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3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2588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50876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5087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From test description to test file, automatically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Turning Word test descriptions into ready-to-use test files with a local AI assistant. Demo overview.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The problem today</a:t>
            </a:r>
            <a:endParaRPr lang="en-US" sz="2600" dirty="0"/>
          </a:p>
        </p:txBody>
      </p:sp>
      <p:sp>
        <p:nvSpPr>
          <p:cNvPr id="3" name="Card Every document looks different"/>
          <p:cNvSpPr/>
          <p:nvPr/>
        </p:nvSpPr>
        <p:spPr>
          <a:xfrm>
            <a:off x="548640" y="1325880"/>
            <a:ext cx="2560320" cy="2606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ccent Every document looks different"/>
          <p:cNvSpPr/>
          <p:nvPr/>
        </p:nvSpPr>
        <p:spPr>
          <a:xfrm>
            <a:off x="548640" y="1325880"/>
            <a:ext cx="73152" cy="2606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ead Every document looks different"/>
          <p:cNvSpPr txBox="1"/>
          <p:nvPr/>
        </p:nvSpPr>
        <p:spPr>
          <a:xfrm>
            <a:off x="7772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Every document looks different</a:t>
            </a:r>
            <a:endParaRPr lang="en-US" sz="1600" dirty="0"/>
          </a:p>
        </p:txBody>
      </p:sp>
      <p:sp>
        <p:nvSpPr>
          <p:cNvPr id="6" name="Text Every document looks different"/>
          <p:cNvSpPr txBox="1"/>
          <p:nvPr/>
        </p:nvSpPr>
        <p:spPr>
          <a:xfrm>
            <a:off x="777240" y="19659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Layouts, headings and tables change from one document to the next, so there is no fixed pattern to follow.</a:t>
            </a:r>
            <a:endParaRPr lang="en-US" sz="1300" dirty="0"/>
          </a:p>
        </p:txBody>
      </p:sp>
      <p:sp>
        <p:nvSpPr>
          <p:cNvPr id="7" name="Card Copying by hand is slow"/>
          <p:cNvSpPr/>
          <p:nvPr/>
        </p:nvSpPr>
        <p:spPr>
          <a:xfrm>
            <a:off x="3291840" y="1325880"/>
            <a:ext cx="2560320" cy="2606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ccent Copying by hand is slow"/>
          <p:cNvSpPr/>
          <p:nvPr/>
        </p:nvSpPr>
        <p:spPr>
          <a:xfrm>
            <a:off x="3291840" y="1325880"/>
            <a:ext cx="73152" cy="2606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Head Copying by hand is slow"/>
          <p:cNvSpPr txBox="1"/>
          <p:nvPr/>
        </p:nvSpPr>
        <p:spPr>
          <a:xfrm>
            <a:off x="35204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Copying by hand is slow</a:t>
            </a:r>
            <a:endParaRPr lang="en-US" sz="1600" dirty="0"/>
          </a:p>
        </p:txBody>
      </p:sp>
      <p:sp>
        <p:nvSpPr>
          <p:cNvPr id="10" name="Text Copying by hand is slow"/>
          <p:cNvSpPr txBox="1"/>
          <p:nvPr/>
        </p:nvSpPr>
        <p:spPr>
          <a:xfrm>
            <a:off x="3520440" y="19659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Engineers read the description and re-type it into the strict format of the test file, again and again.</a:t>
            </a:r>
            <a:endParaRPr lang="en-US" sz="1300" dirty="0"/>
          </a:p>
        </p:txBody>
      </p:sp>
      <p:sp>
        <p:nvSpPr>
          <p:cNvPr id="11" name="Card Small mistakes are costly"/>
          <p:cNvSpPr/>
          <p:nvPr/>
        </p:nvSpPr>
        <p:spPr>
          <a:xfrm>
            <a:off x="6035040" y="1325880"/>
            <a:ext cx="2560320" cy="2606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ccent Small mistakes are costly"/>
          <p:cNvSpPr/>
          <p:nvPr/>
        </p:nvSpPr>
        <p:spPr>
          <a:xfrm>
            <a:off x="6035040" y="1325880"/>
            <a:ext cx="73152" cy="2606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Head Small mistakes are costly"/>
          <p:cNvSpPr txBox="1"/>
          <p:nvPr/>
        </p:nvSpPr>
        <p:spPr>
          <a:xfrm>
            <a:off x="62636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Small mistakes are costly</a:t>
            </a:r>
            <a:endParaRPr lang="en-US" sz="1600" dirty="0"/>
          </a:p>
        </p:txBody>
      </p:sp>
      <p:sp>
        <p:nvSpPr>
          <p:cNvPr id="14" name="Text Small mistakes are costly"/>
          <p:cNvSpPr txBox="1"/>
          <p:nvPr/>
        </p:nvSpPr>
        <p:spPr>
          <a:xfrm>
            <a:off x="6263640" y="19659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wrong value in a test file can go unnoticed until a test behaves unexpectedly.</a:t>
            </a:r>
            <a:endParaRPr lang="en-US" sz="1300" dirty="0"/>
          </a:p>
        </p:txBody>
      </p:sp>
      <p:sp>
        <p:nvSpPr>
          <p:cNvPr id="15" name="Takeaway bar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akeaway"/>
          <p:cNvSpPr txBox="1"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Goal: a ready-to-use test file from a Word description, fast and checkable.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Why not simply ask an AI to do it all?</a:t>
            </a:r>
            <a:endParaRPr lang="en-US" sz="2600" dirty="0"/>
          </a:p>
        </p:txBody>
      </p:sp>
      <p:sp>
        <p:nvSpPr>
          <p:cNvPr id="3" name="Card AI is great at understanding"/>
          <p:cNvSpPr/>
          <p:nvPr/>
        </p:nvSpPr>
        <p:spPr>
          <a:xfrm>
            <a:off x="548640" y="1325880"/>
            <a:ext cx="3931920" cy="2606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ccent AI is great at understanding"/>
          <p:cNvSpPr/>
          <p:nvPr/>
        </p:nvSpPr>
        <p:spPr>
          <a:xfrm>
            <a:off x="548640" y="1325880"/>
            <a:ext cx="73152" cy="2606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ead AI is great at understanding"/>
          <p:cNvSpPr txBox="1"/>
          <p:nvPr/>
        </p:nvSpPr>
        <p:spPr>
          <a:xfrm>
            <a:off x="77724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is great at understanding</a:t>
            </a:r>
            <a:endParaRPr lang="en-US" sz="1600" dirty="0"/>
          </a:p>
        </p:txBody>
      </p:sp>
      <p:sp>
        <p:nvSpPr>
          <p:cNvPr id="6" name="Text AI is great at understanding"/>
          <p:cNvSpPr txBox="1"/>
          <p:nvPr/>
        </p:nvSpPr>
        <p:spPr>
          <a:xfrm>
            <a:off x="777240" y="19659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It can read untidy wording, recognise what each section is for, and work out what each table column means, even when documents differ.</a:t>
            </a:r>
            <a:endParaRPr lang="en-US" sz="1300" dirty="0"/>
          </a:p>
        </p:txBody>
      </p:sp>
      <p:sp>
        <p:nvSpPr>
          <p:cNvPr id="7" name="Card But it is not a careful copier"/>
          <p:cNvSpPr/>
          <p:nvPr/>
        </p:nvSpPr>
        <p:spPr>
          <a:xfrm>
            <a:off x="4663440" y="1325880"/>
            <a:ext cx="3931920" cy="2606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ccent But it is not a careful copier"/>
          <p:cNvSpPr/>
          <p:nvPr/>
        </p:nvSpPr>
        <p:spPr>
          <a:xfrm>
            <a:off x="4663440" y="1325880"/>
            <a:ext cx="73152" cy="2606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Head But it is not a careful copier"/>
          <p:cNvSpPr txBox="1"/>
          <p:nvPr/>
        </p:nvSpPr>
        <p:spPr>
          <a:xfrm>
            <a:off x="489204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But it is not a careful copier</a:t>
            </a:r>
            <a:endParaRPr lang="en-US" sz="1600" dirty="0"/>
          </a:p>
        </p:txBody>
      </p:sp>
      <p:sp>
        <p:nvSpPr>
          <p:cNvPr id="10" name="Text But it is not a careful copier"/>
          <p:cNvSpPr txBox="1"/>
          <p:nvPr/>
        </p:nvSpPr>
        <p:spPr>
          <a:xfrm>
            <a:off x="4892040" y="19659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model small enough to run on your own machine can mix up or invent numbers. For exact values we do not want to rely on it.</a:t>
            </a:r>
            <a:endParaRPr lang="en-US" sz="1300" dirty="0"/>
          </a:p>
        </p:txBody>
      </p:sp>
      <p:sp>
        <p:nvSpPr>
          <p:cNvPr id="11" name="Takeaway bar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akeaway"/>
          <p:cNvSpPr txBox="1"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So we split the work: AI decides what things are, software copies the values.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Our approach: four simple steps</a:t>
            </a:r>
            <a:endParaRPr lang="en-US" sz="2600" dirty="0"/>
          </a:p>
        </p:txBody>
      </p:sp>
      <p:sp>
        <p:nvSpPr>
          <p:cNvPr id="3" name="Card Read"/>
          <p:cNvSpPr/>
          <p:nvPr/>
        </p:nvSpPr>
        <p:spPr>
          <a:xfrm>
            <a:off x="548640" y="1325880"/>
            <a:ext cx="187452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ccent Read"/>
          <p:cNvSpPr/>
          <p:nvPr/>
        </p:nvSpPr>
        <p:spPr>
          <a:xfrm>
            <a:off x="548640" y="1325880"/>
            <a:ext cx="73152" cy="2697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777240" y="1508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 no 1"/>
          <p:cNvSpPr txBox="1"/>
          <p:nvPr/>
        </p:nvSpPr>
        <p:spPr>
          <a:xfrm>
            <a:off x="7772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Head Read"/>
          <p:cNvSpPr txBox="1"/>
          <p:nvPr/>
        </p:nvSpPr>
        <p:spPr>
          <a:xfrm>
            <a:off x="777240" y="20574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Read</a:t>
            </a:r>
            <a:endParaRPr lang="en-US" sz="1600" dirty="0"/>
          </a:p>
        </p:txBody>
      </p:sp>
      <p:sp>
        <p:nvSpPr>
          <p:cNvPr id="8" name="Text Read"/>
          <p:cNvSpPr txBox="1"/>
          <p:nvPr/>
        </p:nvSpPr>
        <p:spPr>
          <a:xfrm>
            <a:off x="777240" y="256032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the Word document and find its sections and tables, however they are laid out.</a:t>
            </a:r>
            <a:endParaRPr lang="en-US" sz="1300" dirty="0"/>
          </a:p>
        </p:txBody>
      </p:sp>
      <p:sp>
        <p:nvSpPr>
          <p:cNvPr id="9" name="Card Understand"/>
          <p:cNvSpPr/>
          <p:nvPr/>
        </p:nvSpPr>
        <p:spPr>
          <a:xfrm>
            <a:off x="2606040" y="1325880"/>
            <a:ext cx="187452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Accent Understand"/>
          <p:cNvSpPr/>
          <p:nvPr/>
        </p:nvSpPr>
        <p:spPr>
          <a:xfrm>
            <a:off x="2606040" y="1325880"/>
            <a:ext cx="73152" cy="2697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 2"/>
          <p:cNvSpPr/>
          <p:nvPr/>
        </p:nvSpPr>
        <p:spPr>
          <a:xfrm>
            <a:off x="2834640" y="1508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adge no 2"/>
          <p:cNvSpPr txBox="1"/>
          <p:nvPr/>
        </p:nvSpPr>
        <p:spPr>
          <a:xfrm>
            <a:off x="2834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Head Understand"/>
          <p:cNvSpPr txBox="1"/>
          <p:nvPr/>
        </p:nvSpPr>
        <p:spPr>
          <a:xfrm>
            <a:off x="2834640" y="20574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Understand</a:t>
            </a:r>
            <a:endParaRPr lang="en-US" sz="1600" dirty="0"/>
          </a:p>
        </p:txBody>
      </p:sp>
      <p:sp>
        <p:nvSpPr>
          <p:cNvPr id="14" name="Text Understand"/>
          <p:cNvSpPr txBox="1"/>
          <p:nvPr/>
        </p:nvSpPr>
        <p:spPr>
          <a:xfrm>
            <a:off x="2834640" y="256032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AI decides what each section and table is, and what every column means.</a:t>
            </a:r>
            <a:endParaRPr lang="en-US" sz="1300" dirty="0"/>
          </a:p>
        </p:txBody>
      </p:sp>
      <p:sp>
        <p:nvSpPr>
          <p:cNvPr id="15" name="Card Build"/>
          <p:cNvSpPr/>
          <p:nvPr/>
        </p:nvSpPr>
        <p:spPr>
          <a:xfrm>
            <a:off x="4663440" y="1325880"/>
            <a:ext cx="187452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ccent Build"/>
          <p:cNvSpPr/>
          <p:nvPr/>
        </p:nvSpPr>
        <p:spPr>
          <a:xfrm>
            <a:off x="4663440" y="1325880"/>
            <a:ext cx="73152" cy="2697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Badge 3"/>
          <p:cNvSpPr/>
          <p:nvPr/>
        </p:nvSpPr>
        <p:spPr>
          <a:xfrm>
            <a:off x="4892040" y="1508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adge no 3"/>
          <p:cNvSpPr txBox="1"/>
          <p:nvPr/>
        </p:nvSpPr>
        <p:spPr>
          <a:xfrm>
            <a:off x="48920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Head Build"/>
          <p:cNvSpPr txBox="1"/>
          <p:nvPr/>
        </p:nvSpPr>
        <p:spPr>
          <a:xfrm>
            <a:off x="4892040" y="20574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Build</a:t>
            </a:r>
            <a:endParaRPr lang="en-US" sz="1600" dirty="0"/>
          </a:p>
        </p:txBody>
      </p:sp>
      <p:sp>
        <p:nvSpPr>
          <p:cNvPr id="20" name="Text Build"/>
          <p:cNvSpPr txBox="1"/>
          <p:nvPr/>
        </p:nvSpPr>
        <p:spPr>
          <a:xfrm>
            <a:off x="4892040" y="256032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Software takes the exact values from the tables and assembles each test case.</a:t>
            </a:r>
            <a:endParaRPr lang="en-US" sz="1300" dirty="0"/>
          </a:p>
        </p:txBody>
      </p:sp>
      <p:sp>
        <p:nvSpPr>
          <p:cNvPr id="21" name="Card Check and write"/>
          <p:cNvSpPr/>
          <p:nvPr/>
        </p:nvSpPr>
        <p:spPr>
          <a:xfrm>
            <a:off x="6720840" y="1325880"/>
            <a:ext cx="187452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Accent Check and write"/>
          <p:cNvSpPr/>
          <p:nvPr/>
        </p:nvSpPr>
        <p:spPr>
          <a:xfrm>
            <a:off x="6720840" y="1325880"/>
            <a:ext cx="73152" cy="2697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Badge 4"/>
          <p:cNvSpPr/>
          <p:nvPr/>
        </p:nvSpPr>
        <p:spPr>
          <a:xfrm>
            <a:off x="6949440" y="1508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Badge no 4"/>
          <p:cNvSpPr txBox="1"/>
          <p:nvPr/>
        </p:nvSpPr>
        <p:spPr>
          <a:xfrm>
            <a:off x="69494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Head Check and write"/>
          <p:cNvSpPr txBox="1"/>
          <p:nvPr/>
        </p:nvSpPr>
        <p:spPr>
          <a:xfrm>
            <a:off x="6949440" y="20574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Check and write</a:t>
            </a:r>
            <a:endParaRPr lang="en-US" sz="1600" dirty="0"/>
          </a:p>
        </p:txBody>
      </p:sp>
      <p:sp>
        <p:nvSpPr>
          <p:cNvPr id="26" name="Text Check and write"/>
          <p:cNvSpPr txBox="1"/>
          <p:nvPr/>
        </p:nvSpPr>
        <p:spPr>
          <a:xfrm>
            <a:off x="6949440" y="256032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Everything is validated, then the test file is written with a list of items to review.</a:t>
            </a:r>
            <a:endParaRPr lang="en-US" sz="1300" dirty="0"/>
          </a:p>
        </p:txBody>
      </p:sp>
      <p:sp>
        <p:nvSpPr>
          <p:cNvPr id="27" name="Takeaway bar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akeaway"/>
          <p:cNvSpPr txBox="1"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The same four steps for every document, whatever its layout.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How we break the problem into steps</a:t>
            </a:r>
            <a:endParaRPr lang="en-US" sz="2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280160"/>
            <a:ext cx="15087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badge 1"/>
          <p:cNvSpPr/>
          <p:nvPr/>
        </p:nvSpPr>
        <p:spPr>
          <a:xfrm>
            <a:off x="658368" y="13898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ep no 1"/>
          <p:cNvSpPr txBox="1"/>
          <p:nvPr/>
        </p:nvSpPr>
        <p:spPr>
          <a:xfrm>
            <a:off x="658368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Step name 1"/>
          <p:cNvSpPr txBox="1"/>
          <p:nvPr/>
        </p:nvSpPr>
        <p:spPr>
          <a:xfrm>
            <a:off x="1078992" y="1389888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Load</a:t>
            </a:r>
            <a:endParaRPr lang="en-US" sz="1300" dirty="0"/>
          </a:p>
        </p:txBody>
      </p:sp>
      <p:sp>
        <p:nvSpPr>
          <p:cNvPr id="7" name="Step text 1"/>
          <p:cNvSpPr txBox="1"/>
          <p:nvPr/>
        </p:nvSpPr>
        <p:spPr>
          <a:xfrm>
            <a:off x="658368" y="1828800"/>
            <a:ext cx="1289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Reads the Word file, finds the tables</a:t>
            </a:r>
            <a:endParaRPr lang="en-US" sz="1200" dirty="0"/>
          </a:p>
        </p:txBody>
      </p:sp>
      <p:sp>
        <p:nvSpPr>
          <p:cNvPr id="8" name="Step card 2"/>
          <p:cNvSpPr/>
          <p:nvPr/>
        </p:nvSpPr>
        <p:spPr>
          <a:xfrm>
            <a:off x="2185416" y="1280160"/>
            <a:ext cx="15087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badge 2"/>
          <p:cNvSpPr/>
          <p:nvPr/>
        </p:nvSpPr>
        <p:spPr>
          <a:xfrm>
            <a:off x="2295144" y="138988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tep no 2"/>
          <p:cNvSpPr txBox="1"/>
          <p:nvPr/>
        </p:nvSpPr>
        <p:spPr>
          <a:xfrm>
            <a:off x="2295144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tep name 2"/>
          <p:cNvSpPr txBox="1"/>
          <p:nvPr/>
        </p:nvSpPr>
        <p:spPr>
          <a:xfrm>
            <a:off x="2715768" y="1389888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Label</a:t>
            </a:r>
            <a:endParaRPr lang="en-US" sz="1300" dirty="0"/>
          </a:p>
        </p:txBody>
      </p:sp>
      <p:sp>
        <p:nvSpPr>
          <p:cNvPr id="12" name="Step text 2"/>
          <p:cNvSpPr txBox="1"/>
          <p:nvPr/>
        </p:nvSpPr>
        <p:spPr>
          <a:xfrm>
            <a:off x="2295144" y="1828800"/>
            <a:ext cx="1289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labels each section</a:t>
            </a:r>
            <a:endParaRPr lang="en-US" sz="1200" dirty="0"/>
          </a:p>
        </p:txBody>
      </p:sp>
      <p:sp>
        <p:nvSpPr>
          <p:cNvPr id="13" name="Step card 3"/>
          <p:cNvSpPr/>
          <p:nvPr/>
        </p:nvSpPr>
        <p:spPr>
          <a:xfrm>
            <a:off x="3822192" y="1280160"/>
            <a:ext cx="15087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badge 3"/>
          <p:cNvSpPr/>
          <p:nvPr/>
        </p:nvSpPr>
        <p:spPr>
          <a:xfrm>
            <a:off x="3931920" y="13898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tep no 3"/>
          <p:cNvSpPr txBox="1"/>
          <p:nvPr/>
        </p:nvSpPr>
        <p:spPr>
          <a:xfrm>
            <a:off x="393192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Step name 3"/>
          <p:cNvSpPr txBox="1"/>
          <p:nvPr/>
        </p:nvSpPr>
        <p:spPr>
          <a:xfrm>
            <a:off x="4352544" y="1389888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Table roles</a:t>
            </a:r>
            <a:endParaRPr lang="en-US" sz="1300" dirty="0"/>
          </a:p>
        </p:txBody>
      </p:sp>
      <p:sp>
        <p:nvSpPr>
          <p:cNvPr id="17" name="Step text 3"/>
          <p:cNvSpPr txBox="1"/>
          <p:nvPr/>
        </p:nvSpPr>
        <p:spPr>
          <a:xfrm>
            <a:off x="3931920" y="1828800"/>
            <a:ext cx="1289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Which table is input or output</a:t>
            </a:r>
            <a:endParaRPr lang="en-US" sz="1200" dirty="0"/>
          </a:p>
        </p:txBody>
      </p:sp>
      <p:sp>
        <p:nvSpPr>
          <p:cNvPr id="18" name="Step card 4"/>
          <p:cNvSpPr/>
          <p:nvPr/>
        </p:nvSpPr>
        <p:spPr>
          <a:xfrm>
            <a:off x="5458968" y="1280160"/>
            <a:ext cx="15087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 badge 4"/>
          <p:cNvSpPr/>
          <p:nvPr/>
        </p:nvSpPr>
        <p:spPr>
          <a:xfrm>
            <a:off x="5568696" y="138988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Step no 4"/>
          <p:cNvSpPr txBox="1"/>
          <p:nvPr/>
        </p:nvSpPr>
        <p:spPr>
          <a:xfrm>
            <a:off x="5568696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Step name 4"/>
          <p:cNvSpPr txBox="1"/>
          <p:nvPr/>
        </p:nvSpPr>
        <p:spPr>
          <a:xfrm>
            <a:off x="5989320" y="1389888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Recipes</a:t>
            </a:r>
            <a:endParaRPr lang="en-US" sz="1300" dirty="0"/>
          </a:p>
        </p:txBody>
      </p:sp>
      <p:sp>
        <p:nvSpPr>
          <p:cNvPr id="22" name="Step text 4"/>
          <p:cNvSpPr txBox="1"/>
          <p:nvPr/>
        </p:nvSpPr>
        <p:spPr>
          <a:xfrm>
            <a:off x="5568696" y="1828800"/>
            <a:ext cx="1289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describes what each column means</a:t>
            </a:r>
            <a:endParaRPr lang="en-US" sz="1200" dirty="0"/>
          </a:p>
        </p:txBody>
      </p:sp>
      <p:sp>
        <p:nvSpPr>
          <p:cNvPr id="23" name="Step card 5"/>
          <p:cNvSpPr/>
          <p:nvPr/>
        </p:nvSpPr>
        <p:spPr>
          <a:xfrm>
            <a:off x="7095744" y="1280160"/>
            <a:ext cx="15087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tep badge 5"/>
          <p:cNvSpPr/>
          <p:nvPr/>
        </p:nvSpPr>
        <p:spPr>
          <a:xfrm>
            <a:off x="7205472" y="13898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tep no 5"/>
          <p:cNvSpPr txBox="1"/>
          <p:nvPr/>
        </p:nvSpPr>
        <p:spPr>
          <a:xfrm>
            <a:off x="7205472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Step name 5"/>
          <p:cNvSpPr txBox="1"/>
          <p:nvPr/>
        </p:nvSpPr>
        <p:spPr>
          <a:xfrm>
            <a:off x="7626096" y="1389888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Assemble</a:t>
            </a:r>
            <a:endParaRPr lang="en-US" sz="1300" dirty="0"/>
          </a:p>
        </p:txBody>
      </p:sp>
      <p:sp>
        <p:nvSpPr>
          <p:cNvPr id="27" name="Step text 5"/>
          <p:cNvSpPr txBox="1"/>
          <p:nvPr/>
        </p:nvSpPr>
        <p:spPr>
          <a:xfrm>
            <a:off x="7205472" y="1828800"/>
            <a:ext cx="1289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Code builds test cases from rows</a:t>
            </a:r>
            <a:endParaRPr lang="en-US" sz="1200" dirty="0"/>
          </a:p>
        </p:txBody>
      </p:sp>
      <p:sp>
        <p:nvSpPr>
          <p:cNvPr id="28" name="Step card 6"/>
          <p:cNvSpPr/>
          <p:nvPr/>
        </p:nvSpPr>
        <p:spPr>
          <a:xfrm>
            <a:off x="548640" y="2651760"/>
            <a:ext cx="15087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tep badge 6"/>
          <p:cNvSpPr/>
          <p:nvPr/>
        </p:nvSpPr>
        <p:spPr>
          <a:xfrm>
            <a:off x="658368" y="276148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Step no 6"/>
          <p:cNvSpPr txBox="1"/>
          <p:nvPr/>
        </p:nvSpPr>
        <p:spPr>
          <a:xfrm>
            <a:off x="658368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Step name 6"/>
          <p:cNvSpPr txBox="1"/>
          <p:nvPr/>
        </p:nvSpPr>
        <p:spPr>
          <a:xfrm>
            <a:off x="1078992" y="2761488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Notes</a:t>
            </a:r>
            <a:endParaRPr lang="en-US" sz="1300" dirty="0"/>
          </a:p>
        </p:txBody>
      </p:sp>
      <p:sp>
        <p:nvSpPr>
          <p:cNvPr id="32" name="Step text 6"/>
          <p:cNvSpPr txBox="1"/>
          <p:nvPr/>
        </p:nvSpPr>
        <p:spPr>
          <a:xfrm>
            <a:off x="658368" y="3200400"/>
            <a:ext cx="1289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reads setup and constraint text</a:t>
            </a:r>
            <a:endParaRPr lang="en-US" sz="1200" dirty="0"/>
          </a:p>
        </p:txBody>
      </p:sp>
      <p:sp>
        <p:nvSpPr>
          <p:cNvPr id="33" name="Step card 7"/>
          <p:cNvSpPr/>
          <p:nvPr/>
        </p:nvSpPr>
        <p:spPr>
          <a:xfrm>
            <a:off x="2185416" y="2651760"/>
            <a:ext cx="15087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tep badge 7"/>
          <p:cNvSpPr/>
          <p:nvPr/>
        </p:nvSpPr>
        <p:spPr>
          <a:xfrm>
            <a:off x="2295144" y="27614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Step no 7"/>
          <p:cNvSpPr txBox="1"/>
          <p:nvPr/>
        </p:nvSpPr>
        <p:spPr>
          <a:xfrm>
            <a:off x="2295144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6" name="Step name 7"/>
          <p:cNvSpPr txBox="1"/>
          <p:nvPr/>
        </p:nvSpPr>
        <p:spPr>
          <a:xfrm>
            <a:off x="2715768" y="2761488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Ground</a:t>
            </a:r>
            <a:endParaRPr lang="en-US" sz="1300" dirty="0"/>
          </a:p>
        </p:txBody>
      </p:sp>
      <p:sp>
        <p:nvSpPr>
          <p:cNvPr id="37" name="Step text 7"/>
          <p:cNvSpPr txBox="1"/>
          <p:nvPr/>
        </p:nvSpPr>
        <p:spPr>
          <a:xfrm>
            <a:off x="2295144" y="3200400"/>
            <a:ext cx="1289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Matches names to known variables</a:t>
            </a:r>
            <a:endParaRPr lang="en-US" sz="1200" dirty="0"/>
          </a:p>
        </p:txBody>
      </p:sp>
      <p:sp>
        <p:nvSpPr>
          <p:cNvPr id="38" name="Step card 8"/>
          <p:cNvSpPr/>
          <p:nvPr/>
        </p:nvSpPr>
        <p:spPr>
          <a:xfrm>
            <a:off x="3822192" y="2651760"/>
            <a:ext cx="15087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Step badge 8"/>
          <p:cNvSpPr/>
          <p:nvPr/>
        </p:nvSpPr>
        <p:spPr>
          <a:xfrm>
            <a:off x="3931920" y="27614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Step no 8"/>
          <p:cNvSpPr txBox="1"/>
          <p:nvPr/>
        </p:nvSpPr>
        <p:spPr>
          <a:xfrm>
            <a:off x="3931920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41" name="Step name 8"/>
          <p:cNvSpPr txBox="1"/>
          <p:nvPr/>
        </p:nvSpPr>
        <p:spPr>
          <a:xfrm>
            <a:off x="4352544" y="2761488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Validate</a:t>
            </a:r>
            <a:endParaRPr lang="en-US" sz="1300" dirty="0"/>
          </a:p>
        </p:txBody>
      </p:sp>
      <p:sp>
        <p:nvSpPr>
          <p:cNvPr id="42" name="Step text 8"/>
          <p:cNvSpPr txBox="1"/>
          <p:nvPr/>
        </p:nvSpPr>
        <p:spPr>
          <a:xfrm>
            <a:off x="3931920" y="3200400"/>
            <a:ext cx="1289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Checks values, masks and coverage</a:t>
            </a:r>
            <a:endParaRPr lang="en-US" sz="1200" dirty="0"/>
          </a:p>
        </p:txBody>
      </p:sp>
      <p:sp>
        <p:nvSpPr>
          <p:cNvPr id="43" name="Step card 9"/>
          <p:cNvSpPr/>
          <p:nvPr/>
        </p:nvSpPr>
        <p:spPr>
          <a:xfrm>
            <a:off x="5458968" y="2651760"/>
            <a:ext cx="15087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Step badge 9"/>
          <p:cNvSpPr/>
          <p:nvPr/>
        </p:nvSpPr>
        <p:spPr>
          <a:xfrm>
            <a:off x="5568696" y="27614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Step no 9"/>
          <p:cNvSpPr txBox="1"/>
          <p:nvPr/>
        </p:nvSpPr>
        <p:spPr>
          <a:xfrm>
            <a:off x="5568696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46" name="Step name 9"/>
          <p:cNvSpPr txBox="1"/>
          <p:nvPr/>
        </p:nvSpPr>
        <p:spPr>
          <a:xfrm>
            <a:off x="5989320" y="2761488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Render</a:t>
            </a:r>
            <a:endParaRPr lang="en-US" sz="1300" dirty="0"/>
          </a:p>
        </p:txBody>
      </p:sp>
      <p:sp>
        <p:nvSpPr>
          <p:cNvPr id="47" name="Step text 9"/>
          <p:cNvSpPr txBox="1"/>
          <p:nvPr/>
        </p:nvSpPr>
        <p:spPr>
          <a:xfrm>
            <a:off x="5568696" y="3200400"/>
            <a:ext cx="1289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Writes the test file</a:t>
            </a:r>
            <a:endParaRPr lang="en-US" sz="1200" dirty="0"/>
          </a:p>
        </p:txBody>
      </p:sp>
      <p:sp>
        <p:nvSpPr>
          <p:cNvPr id="48" name="Step card 10"/>
          <p:cNvSpPr/>
          <p:nvPr/>
        </p:nvSpPr>
        <p:spPr>
          <a:xfrm>
            <a:off x="7095744" y="2651760"/>
            <a:ext cx="15087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Step badge 10"/>
          <p:cNvSpPr/>
          <p:nvPr/>
        </p:nvSpPr>
        <p:spPr>
          <a:xfrm>
            <a:off x="7205472" y="27614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0" name="Step no 10"/>
          <p:cNvSpPr txBox="1"/>
          <p:nvPr/>
        </p:nvSpPr>
        <p:spPr>
          <a:xfrm>
            <a:off x="7205472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51" name="Step name 10"/>
          <p:cNvSpPr txBox="1"/>
          <p:nvPr/>
        </p:nvSpPr>
        <p:spPr>
          <a:xfrm>
            <a:off x="7626096" y="2761488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Report</a:t>
            </a:r>
            <a:endParaRPr lang="en-US" sz="1300" dirty="0"/>
          </a:p>
        </p:txBody>
      </p:sp>
      <p:sp>
        <p:nvSpPr>
          <p:cNvPr id="52" name="Step text 10"/>
          <p:cNvSpPr txBox="1"/>
          <p:nvPr/>
        </p:nvSpPr>
        <p:spPr>
          <a:xfrm>
            <a:off x="7205472" y="3200400"/>
            <a:ext cx="1289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Review list for a person</a:t>
            </a:r>
            <a:endParaRPr lang="en-US" sz="1200" dirty="0"/>
          </a:p>
        </p:txBody>
      </p:sp>
      <p:sp>
        <p:nvSpPr>
          <p:cNvPr id="53" name="Legend AI dot"/>
          <p:cNvSpPr/>
          <p:nvPr/>
        </p:nvSpPr>
        <p:spPr>
          <a:xfrm>
            <a:off x="548640" y="4187952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4" name="Legend AI"/>
          <p:cNvSpPr txBox="1"/>
          <p:nvPr/>
        </p:nvSpPr>
        <p:spPr>
          <a:xfrm>
            <a:off x="822960" y="41330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involved (always checked by code)</a:t>
            </a:r>
            <a:endParaRPr lang="en-US" sz="1200" dirty="0"/>
          </a:p>
        </p:txBody>
      </p:sp>
      <p:sp>
        <p:nvSpPr>
          <p:cNvPr id="55" name="Legend code dot"/>
          <p:cNvSpPr/>
          <p:nvPr/>
        </p:nvSpPr>
        <p:spPr>
          <a:xfrm>
            <a:off x="4023360" y="41879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6" name="Legend code"/>
          <p:cNvSpPr txBox="1"/>
          <p:nvPr/>
        </p:nvSpPr>
        <p:spPr>
          <a:xfrm>
            <a:off x="4297680" y="41330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Plain code (AI only if something is unclear)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Steps 1-5 in a little more detail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happens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How (technical)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1  Load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Reads the Word file in order and decodes the complex tables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python-docx plus our table decoder for merged, multi-level headers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2  Label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AI sorts every section: index, inputs, expected outputs, constraints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Keyword hints plus the LLM; answer limited to a fixed list; rule fallback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3  Table roles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Decides which table holds inputs and which holds expected outputs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From the section label; LLM only if one section has several tables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4  Recipes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AI describes what each column means and which variable it is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LLM picks from a short list of known variables; saved per layout, approved once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5  Assemble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Joins input and expected rows into test cases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Plain code: join by row id, group per-computer values; no AI involved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Steps 6-10 in a little more detail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happens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How (technical)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6  Notes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AI reads the setup and constraint paragraphs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LLM must quote the sentence it used; the quote is checked against the document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7  Ground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Matches names in the text to the known variable list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Exact, then fuzzy match, then an LLM pick among top candidates, else flagged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8  Validate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Checks the whole result before writing 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Python rules: conflicts, missing symbols, unused sections; issues are graded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9  Render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Writes the test file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One place holds the file syntax; unresolved items stay visible as ?? markers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10  Report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Produces the review list and a run summary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Always runs, even after an error; the exit code says clean, review or fatal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Tools we use</a:t>
            </a:r>
            <a:endParaRPr lang="en-US" sz="2600" dirty="0"/>
          </a:p>
        </p:txBody>
      </p:sp>
      <p:sp>
        <p:nvSpPr>
          <p:cNvPr id="3" name="Card LangGraph"/>
          <p:cNvSpPr/>
          <p:nvPr/>
        </p:nvSpPr>
        <p:spPr>
          <a:xfrm>
            <a:off x="548640" y="1325880"/>
            <a:ext cx="25603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ccent LangGraph"/>
          <p:cNvSpPr/>
          <p:nvPr/>
        </p:nvSpPr>
        <p:spPr>
          <a:xfrm>
            <a:off x="548640" y="1325880"/>
            <a:ext cx="73152" cy="1325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ead LangGraph"/>
          <p:cNvSpPr txBox="1"/>
          <p:nvPr/>
        </p:nvSpPr>
        <p:spPr>
          <a:xfrm>
            <a:off x="7772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LangGraph</a:t>
            </a:r>
            <a:endParaRPr lang="en-US" sz="1600" dirty="0"/>
          </a:p>
        </p:txBody>
      </p:sp>
      <p:sp>
        <p:nvSpPr>
          <p:cNvPr id="6" name="Text LangGraph"/>
          <p:cNvSpPr txBox="1"/>
          <p:nvPr/>
        </p:nvSpPr>
        <p:spPr>
          <a:xfrm>
            <a:off x="77724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Runs the steps as a graph; saves every step's result, so a run can stop and resume.</a:t>
            </a:r>
            <a:endParaRPr lang="en-US" sz="1300" dirty="0"/>
          </a:p>
        </p:txBody>
      </p:sp>
      <p:sp>
        <p:nvSpPr>
          <p:cNvPr id="7" name="Card LangChain"/>
          <p:cNvSpPr/>
          <p:nvPr/>
        </p:nvSpPr>
        <p:spPr>
          <a:xfrm>
            <a:off x="3291840" y="1325880"/>
            <a:ext cx="25603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ccent LangChain"/>
          <p:cNvSpPr/>
          <p:nvPr/>
        </p:nvSpPr>
        <p:spPr>
          <a:xfrm>
            <a:off x="3291840" y="1325880"/>
            <a:ext cx="73152" cy="1325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Head LangChain"/>
          <p:cNvSpPr txBox="1"/>
          <p:nvPr/>
        </p:nvSpPr>
        <p:spPr>
          <a:xfrm>
            <a:off x="35204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LangChain</a:t>
            </a:r>
            <a:endParaRPr lang="en-US" sz="1600" dirty="0"/>
          </a:p>
        </p:txBody>
      </p:sp>
      <p:sp>
        <p:nvSpPr>
          <p:cNvPr id="10" name="Text LangChain"/>
          <p:cNvSpPr txBox="1"/>
          <p:nvPr/>
        </p:nvSpPr>
        <p:spPr>
          <a:xfrm>
            <a:off x="352044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Talks to the local model and asks for answers in a fixed, checkable format.</a:t>
            </a:r>
            <a:endParaRPr lang="en-US" sz="1300" dirty="0"/>
          </a:p>
        </p:txBody>
      </p:sp>
      <p:sp>
        <p:nvSpPr>
          <p:cNvPr id="11" name="Card Ollama / LM Studio"/>
          <p:cNvSpPr/>
          <p:nvPr/>
        </p:nvSpPr>
        <p:spPr>
          <a:xfrm>
            <a:off x="6035040" y="1325880"/>
            <a:ext cx="25603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ccent Ollama / LM Studio"/>
          <p:cNvSpPr/>
          <p:nvPr/>
        </p:nvSpPr>
        <p:spPr>
          <a:xfrm>
            <a:off x="6035040" y="1325880"/>
            <a:ext cx="73152" cy="1325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Head Ollama / LM Studio"/>
          <p:cNvSpPr txBox="1"/>
          <p:nvPr/>
        </p:nvSpPr>
        <p:spPr>
          <a:xfrm>
            <a:off x="62636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Ollama / LM Studio</a:t>
            </a:r>
            <a:endParaRPr lang="en-US" sz="1600" dirty="0"/>
          </a:p>
        </p:txBody>
      </p:sp>
      <p:sp>
        <p:nvSpPr>
          <p:cNvPr id="14" name="Text Ollama / LM Studio"/>
          <p:cNvSpPr txBox="1"/>
          <p:nvPr/>
        </p:nvSpPr>
        <p:spPr>
          <a:xfrm>
            <a:off x="626364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the model on your own machine, fully offline.</a:t>
            </a:r>
            <a:endParaRPr lang="en-US" sz="1300" dirty="0"/>
          </a:p>
        </p:txBody>
      </p:sp>
      <p:sp>
        <p:nvSpPr>
          <p:cNvPr id="15" name="Card Small local LLM"/>
          <p:cNvSpPr/>
          <p:nvPr/>
        </p:nvSpPr>
        <p:spPr>
          <a:xfrm>
            <a:off x="548640" y="2788920"/>
            <a:ext cx="25603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ccent Small local LLM"/>
          <p:cNvSpPr/>
          <p:nvPr/>
        </p:nvSpPr>
        <p:spPr>
          <a:xfrm>
            <a:off x="548640" y="2788920"/>
            <a:ext cx="73152" cy="1325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Head Small local LLM"/>
          <p:cNvSpPr txBox="1"/>
          <p:nvPr/>
        </p:nvSpPr>
        <p:spPr>
          <a:xfrm>
            <a:off x="77724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Small local LLM</a:t>
            </a:r>
            <a:endParaRPr lang="en-US" sz="1600" dirty="0"/>
          </a:p>
        </p:txBody>
      </p:sp>
      <p:sp>
        <p:nvSpPr>
          <p:cNvPr id="18" name="Text Small local LLM"/>
          <p:cNvSpPr txBox="1"/>
          <p:nvPr/>
        </p:nvSpPr>
        <p:spPr>
          <a:xfrm>
            <a:off x="77724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 example Gemma 9B (4-bit). Used for understanding only, never for copying values.</a:t>
            </a:r>
            <a:endParaRPr lang="en-US" sz="1300" dirty="0"/>
          </a:p>
        </p:txBody>
      </p:sp>
      <p:sp>
        <p:nvSpPr>
          <p:cNvPr id="19" name="Card python-docx"/>
          <p:cNvSpPr/>
          <p:nvPr/>
        </p:nvSpPr>
        <p:spPr>
          <a:xfrm>
            <a:off x="3291840" y="2788920"/>
            <a:ext cx="25603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Accent python-docx"/>
          <p:cNvSpPr/>
          <p:nvPr/>
        </p:nvSpPr>
        <p:spPr>
          <a:xfrm>
            <a:off x="3291840" y="2788920"/>
            <a:ext cx="73152" cy="1325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Head python-docx"/>
          <p:cNvSpPr txBox="1"/>
          <p:nvPr/>
        </p:nvSpPr>
        <p:spPr>
          <a:xfrm>
            <a:off x="352044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python-docx</a:t>
            </a:r>
            <a:endParaRPr lang="en-US" sz="1600" dirty="0"/>
          </a:p>
        </p:txBody>
      </p:sp>
      <p:sp>
        <p:nvSpPr>
          <p:cNvPr id="22" name="Text python-docx"/>
          <p:cNvSpPr txBox="1"/>
          <p:nvPr/>
        </p:nvSpPr>
        <p:spPr>
          <a:xfrm>
            <a:off x="352044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Reads the Word files, including text, headings and tables.</a:t>
            </a:r>
            <a:endParaRPr lang="en-US" sz="1300" dirty="0"/>
          </a:p>
        </p:txBody>
      </p:sp>
      <p:sp>
        <p:nvSpPr>
          <p:cNvPr id="23" name="Card Python and tests"/>
          <p:cNvSpPr/>
          <p:nvPr/>
        </p:nvSpPr>
        <p:spPr>
          <a:xfrm>
            <a:off x="6035040" y="2788920"/>
            <a:ext cx="25603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Accent Python and tests"/>
          <p:cNvSpPr/>
          <p:nvPr/>
        </p:nvSpPr>
        <p:spPr>
          <a:xfrm>
            <a:off x="6035040" y="2788920"/>
            <a:ext cx="73152" cy="1325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Head Python and tests"/>
          <p:cNvSpPr txBox="1"/>
          <p:nvPr/>
        </p:nvSpPr>
        <p:spPr>
          <a:xfrm>
            <a:off x="626364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 and tests</a:t>
            </a:r>
            <a:endParaRPr lang="en-US" sz="1600" dirty="0"/>
          </a:p>
        </p:txBody>
      </p:sp>
      <p:sp>
        <p:nvSpPr>
          <p:cNvPr id="26" name="Text Python and tests"/>
          <p:cNvSpPr txBox="1"/>
          <p:nvPr/>
        </p:nvSpPr>
        <p:spPr>
          <a:xfrm>
            <a:off x="626364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Rules, validation and 60 automated tests that run without any model.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Built to be trusted</a:t>
            </a:r>
            <a:endParaRPr lang="en-US" sz="2600" dirty="0"/>
          </a:p>
        </p:txBody>
      </p:sp>
      <p:sp>
        <p:nvSpPr>
          <p:cNvPr id="3" name="Card Nothing is guessed silently"/>
          <p:cNvSpPr/>
          <p:nvPr/>
        </p:nvSpPr>
        <p:spPr>
          <a:xfrm>
            <a:off x="548640" y="1325880"/>
            <a:ext cx="39319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ccent Nothing is guessed silently"/>
          <p:cNvSpPr/>
          <p:nvPr/>
        </p:nvSpPr>
        <p:spPr>
          <a:xfrm>
            <a:off x="548640" y="1325880"/>
            <a:ext cx="73152" cy="1325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ead Nothing is guessed silently"/>
          <p:cNvSpPr txBox="1"/>
          <p:nvPr/>
        </p:nvSpPr>
        <p:spPr>
          <a:xfrm>
            <a:off x="77724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Nothing is guessed silently</a:t>
            </a:r>
            <a:endParaRPr lang="en-US" sz="1600" dirty="0"/>
          </a:p>
        </p:txBody>
      </p:sp>
      <p:sp>
        <p:nvSpPr>
          <p:cNvPr id="6" name="Text Nothing is guessed silently"/>
          <p:cNvSpPr txBox="1"/>
          <p:nvPr/>
        </p:nvSpPr>
        <p:spPr>
          <a:xfrm>
            <a:off x="77724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Anything unclear is marked in the test file and listed for review.</a:t>
            </a:r>
            <a:endParaRPr lang="en-US" sz="1300" dirty="0"/>
          </a:p>
        </p:txBody>
      </p:sp>
      <p:sp>
        <p:nvSpPr>
          <p:cNvPr id="7" name="Card You stay in control"/>
          <p:cNvSpPr/>
          <p:nvPr/>
        </p:nvSpPr>
        <p:spPr>
          <a:xfrm>
            <a:off x="4663440" y="1325880"/>
            <a:ext cx="39319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ccent You stay in control"/>
          <p:cNvSpPr/>
          <p:nvPr/>
        </p:nvSpPr>
        <p:spPr>
          <a:xfrm>
            <a:off x="4663440" y="1325880"/>
            <a:ext cx="73152" cy="1325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Head You stay in control"/>
          <p:cNvSpPr txBox="1"/>
          <p:nvPr/>
        </p:nvSpPr>
        <p:spPr>
          <a:xfrm>
            <a:off x="489204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You stay in control</a:t>
            </a:r>
            <a:endParaRPr lang="en-US" sz="1600" dirty="0"/>
          </a:p>
        </p:txBody>
      </p:sp>
      <p:sp>
        <p:nvSpPr>
          <p:cNvPr id="10" name="Text You stay in control"/>
          <p:cNvSpPr txBox="1"/>
          <p:nvPr/>
        </p:nvSpPr>
        <p:spPr>
          <a:xfrm>
            <a:off x="489204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new table layout is shown once for approval, then reused.</a:t>
            </a:r>
            <a:endParaRPr lang="en-US" sz="1300" dirty="0"/>
          </a:p>
        </p:txBody>
      </p:sp>
      <p:sp>
        <p:nvSpPr>
          <p:cNvPr id="11" name="Card Works offline"/>
          <p:cNvSpPr/>
          <p:nvPr/>
        </p:nvSpPr>
        <p:spPr>
          <a:xfrm>
            <a:off x="548640" y="2788920"/>
            <a:ext cx="39319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ccent Works offline"/>
          <p:cNvSpPr/>
          <p:nvPr/>
        </p:nvSpPr>
        <p:spPr>
          <a:xfrm>
            <a:off x="548640" y="2788920"/>
            <a:ext cx="73152" cy="1325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Head Works offline"/>
          <p:cNvSpPr txBox="1"/>
          <p:nvPr/>
        </p:nvSpPr>
        <p:spPr>
          <a:xfrm>
            <a:off x="777240" y="2926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Works offline</a:t>
            </a:r>
            <a:endParaRPr lang="en-US" sz="1600" dirty="0"/>
          </a:p>
        </p:txBody>
      </p:sp>
      <p:sp>
        <p:nvSpPr>
          <p:cNvPr id="14" name="Text Works offline"/>
          <p:cNvSpPr txBox="1"/>
          <p:nvPr/>
        </p:nvSpPr>
        <p:spPr>
          <a:xfrm>
            <a:off x="77724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AI runs on your own machine, so documents stay in-house.</a:t>
            </a:r>
            <a:endParaRPr lang="en-US" sz="1300" dirty="0"/>
          </a:p>
        </p:txBody>
      </p:sp>
      <p:sp>
        <p:nvSpPr>
          <p:cNvPr id="15" name="Card Easy to trace"/>
          <p:cNvSpPr/>
          <p:nvPr/>
        </p:nvSpPr>
        <p:spPr>
          <a:xfrm>
            <a:off x="4663440" y="2788920"/>
            <a:ext cx="39319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ccent Easy to trace"/>
          <p:cNvSpPr/>
          <p:nvPr/>
        </p:nvSpPr>
        <p:spPr>
          <a:xfrm>
            <a:off x="4663440" y="2788920"/>
            <a:ext cx="73152" cy="1325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Head Easy to trace"/>
          <p:cNvSpPr txBox="1"/>
          <p:nvPr/>
        </p:nvSpPr>
        <p:spPr>
          <a:xfrm>
            <a:off x="4892040" y="2926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Easy to trace</a:t>
            </a:r>
            <a:endParaRPr lang="en-US" sz="1600" dirty="0"/>
          </a:p>
        </p:txBody>
      </p:sp>
      <p:sp>
        <p:nvSpPr>
          <p:cNvPr id="18" name="Text Easy to trace"/>
          <p:cNvSpPr txBox="1"/>
          <p:nvPr/>
        </p:nvSpPr>
        <p:spPr>
          <a:xfrm>
            <a:off x="489204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line in the test file can be traced back to its source in the document.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What you get</a:t>
            </a:r>
            <a:endParaRPr lang="en-US" sz="2600" dirty="0"/>
          </a:p>
        </p:txBody>
      </p:sp>
      <p:sp>
        <p:nvSpPr>
          <p:cNvPr id="3" name="Card A test file"/>
          <p:cNvSpPr/>
          <p:nvPr/>
        </p:nvSpPr>
        <p:spPr>
          <a:xfrm>
            <a:off x="548640" y="1325880"/>
            <a:ext cx="2560320" cy="2606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ccent A test file"/>
          <p:cNvSpPr/>
          <p:nvPr/>
        </p:nvSpPr>
        <p:spPr>
          <a:xfrm>
            <a:off x="548640" y="1325880"/>
            <a:ext cx="73152" cy="2606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ead A test file"/>
          <p:cNvSpPr txBox="1"/>
          <p:nvPr/>
        </p:nvSpPr>
        <p:spPr>
          <a:xfrm>
            <a:off x="7772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test file</a:t>
            </a:r>
            <a:endParaRPr lang="en-US" sz="1600" dirty="0"/>
          </a:p>
        </p:txBody>
      </p:sp>
      <p:sp>
        <p:nvSpPr>
          <p:cNvPr id="6" name="Text A test file"/>
          <p:cNvSpPr txBox="1"/>
          <p:nvPr/>
        </p:nvSpPr>
        <p:spPr>
          <a:xfrm>
            <a:off x="777240" y="19659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 the required format, ready to use.</a:t>
            </a:r>
            <a:endParaRPr lang="en-US" sz="1300" dirty="0"/>
          </a:p>
        </p:txBody>
      </p:sp>
      <p:sp>
        <p:nvSpPr>
          <p:cNvPr id="7" name="Card A review list"/>
          <p:cNvSpPr/>
          <p:nvPr/>
        </p:nvSpPr>
        <p:spPr>
          <a:xfrm>
            <a:off x="3291840" y="1325880"/>
            <a:ext cx="2560320" cy="2606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ccent A review list"/>
          <p:cNvSpPr/>
          <p:nvPr/>
        </p:nvSpPr>
        <p:spPr>
          <a:xfrm>
            <a:off x="3291840" y="1325880"/>
            <a:ext cx="73152" cy="2606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Head A review list"/>
          <p:cNvSpPr txBox="1"/>
          <p:nvPr/>
        </p:nvSpPr>
        <p:spPr>
          <a:xfrm>
            <a:off x="35204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review list</a:t>
            </a:r>
            <a:endParaRPr lang="en-US" sz="1600" dirty="0"/>
          </a:p>
        </p:txBody>
      </p:sp>
      <p:sp>
        <p:nvSpPr>
          <p:cNvPr id="10" name="Text A review list"/>
          <p:cNvSpPr txBox="1"/>
          <p:nvPr/>
        </p:nvSpPr>
        <p:spPr>
          <a:xfrm>
            <a:off x="3520440" y="19659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short list of anything a person should look at before use.</a:t>
            </a:r>
            <a:endParaRPr lang="en-US" sz="1300" dirty="0"/>
          </a:p>
        </p:txBody>
      </p:sp>
      <p:sp>
        <p:nvSpPr>
          <p:cNvPr id="11" name="Card Saved knowledge"/>
          <p:cNvSpPr/>
          <p:nvPr/>
        </p:nvSpPr>
        <p:spPr>
          <a:xfrm>
            <a:off x="6035040" y="1325880"/>
            <a:ext cx="2560320" cy="2606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ccent Saved knowledge"/>
          <p:cNvSpPr/>
          <p:nvPr/>
        </p:nvSpPr>
        <p:spPr>
          <a:xfrm>
            <a:off x="6035040" y="1325880"/>
            <a:ext cx="73152" cy="2606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Head Saved knowledge"/>
          <p:cNvSpPr txBox="1"/>
          <p:nvPr/>
        </p:nvSpPr>
        <p:spPr>
          <a:xfrm>
            <a:off x="62636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Saved knowledge</a:t>
            </a:r>
            <a:endParaRPr lang="en-US" sz="1600" dirty="0"/>
          </a:p>
        </p:txBody>
      </p:sp>
      <p:sp>
        <p:nvSpPr>
          <p:cNvPr id="14" name="Text Saved knowledge"/>
          <p:cNvSpPr txBox="1"/>
          <p:nvPr/>
        </p:nvSpPr>
        <p:spPr>
          <a:xfrm>
            <a:off x="6263640" y="19659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Layouts learned once are reused, so repeat documents run faster.</a:t>
            </a:r>
            <a:endParaRPr lang="en-US" sz="1300" dirty="0"/>
          </a:p>
        </p:txBody>
      </p:sp>
      <p:sp>
        <p:nvSpPr>
          <p:cNvPr id="15" name="Takeaway bar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akeaway"/>
          <p:cNvSpPr txBox="1"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Demo: Word description in, test file and review list out.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What's next</a:t>
            </a:r>
            <a:endParaRPr lang="en-US" sz="2600" dirty="0"/>
          </a:p>
        </p:txBody>
      </p:sp>
      <p:sp>
        <p:nvSpPr>
          <p:cNvPr id="3" name="Step badg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no 1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"/>
          <p:cNvSpPr txBox="1"/>
          <p:nvPr/>
        </p:nvSpPr>
        <p:spPr>
          <a:xfrm>
            <a:off x="118872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Try it on real documents</a:t>
            </a:r>
            <a:endParaRPr lang="en-US" sz="1600" dirty="0"/>
          </a:p>
        </p:txBody>
      </p:sp>
      <p:sp>
        <p:nvSpPr>
          <p:cNvPr id="6" name="Step badge 2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tep no 2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"/>
          <p:cNvSpPr txBox="1"/>
          <p:nvPr/>
        </p:nvSpPr>
        <p:spPr>
          <a:xfrm>
            <a:off x="1188720" y="2148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Measure accuracy against hand-made test files</a:t>
            </a:r>
            <a:endParaRPr lang="en-US" sz="1600" dirty="0"/>
          </a:p>
        </p:txBody>
      </p:sp>
      <p:sp>
        <p:nvSpPr>
          <p:cNvPr id="9" name="Step badge 3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ep no 3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"/>
          <p:cNvSpPr txBox="1"/>
          <p:nvPr/>
        </p:nvSpPr>
        <p:spPr>
          <a:xfrm>
            <a:off x="1188720" y="2926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Tune the AI instructions from the results</a:t>
            </a:r>
            <a:endParaRPr lang="en-US" sz="1600" dirty="0"/>
          </a:p>
        </p:txBody>
      </p:sp>
      <p:sp>
        <p:nvSpPr>
          <p:cNvPr id="12" name="Step badge 4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tep no 4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"/>
          <p:cNvSpPr txBox="1"/>
          <p:nvPr/>
        </p:nvSpPr>
        <p:spPr>
          <a:xfrm>
            <a:off x="1188720" y="3703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Extend to more document layouts</a:t>
            </a:r>
            <a:endParaRPr lang="en-US" sz="1600" dirty="0"/>
          </a:p>
        </p:txBody>
      </p:sp>
      <p:sp>
        <p:nvSpPr>
          <p:cNvPr id="15" name="Card Status today"/>
          <p:cNvSpPr/>
          <p:nvPr/>
        </p:nvSpPr>
        <p:spPr>
          <a:xfrm>
            <a:off x="5486400" y="1371600"/>
            <a:ext cx="3108960" cy="2606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ccent Status today"/>
          <p:cNvSpPr/>
          <p:nvPr/>
        </p:nvSpPr>
        <p:spPr>
          <a:xfrm>
            <a:off x="5486400" y="1371600"/>
            <a:ext cx="73152" cy="2606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Head Status today"/>
          <p:cNvSpPr txBox="1"/>
          <p:nvPr/>
        </p:nvSpPr>
        <p:spPr>
          <a:xfrm>
            <a:off x="571500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Status today</a:t>
            </a:r>
            <a:endParaRPr lang="en-US" sz="1600" dirty="0"/>
          </a:p>
        </p:txBody>
      </p:sp>
      <p:sp>
        <p:nvSpPr>
          <p:cNvPr id="18" name="Text Status today"/>
          <p:cNvSpPr txBox="1"/>
          <p:nvPr/>
        </p:nvSpPr>
        <p:spPr>
          <a:xfrm>
            <a:off x="5715000" y="20116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working prototype, tested on sample documents. Real documents are the next step, so accuracy can be measured.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mo">
  <a:themeElements>
    <a:clrScheme name="Demo">
      <a:dk1>
        <a:srgbClr val="1F2A37"/>
      </a:dk1>
      <a:lt1>
        <a:srgbClr val="FFFFFF"/>
      </a:lt1>
      <a:dk2>
        <a:srgbClr val="0F3D5E"/>
      </a:dk2>
      <a:lt2>
        <a:srgbClr val="EEF3F7"/>
      </a:lt2>
      <a:accent1>
        <a:srgbClr val="1B7F8C"/>
      </a:accent1>
      <a:accent2>
        <a:srgbClr val="F2A541"/>
      </a:accent2>
      <a:accent3>
        <a:srgbClr val="3A6EA5"/>
      </a:accent3>
      <a:accent4>
        <a:srgbClr val="6B7B8C"/>
      </a:accent4>
      <a:accent5>
        <a:srgbClr val="C8553D"/>
      </a:accent5>
      <a:accent6>
        <a:srgbClr val="7BAE7F"/>
      </a:accent6>
      <a:hlink>
        <a:srgbClr val="1B7F8C"/>
      </a:hlink>
      <a:folHlink>
        <a:srgbClr val="6B7B8C"/>
      </a:folHlink>
    </a:clrScheme>
    <a:fontScheme name="Demo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test description to test file</dc:title>
  <dc:subject>PptxGenJS Presentation</dc:subject>
  <dc:creator>PptxGenJS</dc:creator>
  <cp:lastModifiedBy>PptxGenJS</cp:lastModifiedBy>
  <cp:revision>1</cp:revision>
  <dcterms:created xsi:type="dcterms:W3CDTF">2026-10-18T20:31:14Z</dcterms:created>
  <dcterms:modified xsi:type="dcterms:W3CDTF">2026-10-18T20:31:14Z</dcterms:modified>
</cp:coreProperties>
</file>